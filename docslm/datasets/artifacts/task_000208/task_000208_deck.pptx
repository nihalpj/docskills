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charts/chart1.xml" ContentType="application/vnd.openxmlformats-officedocument.drawingml.chart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Revenue</c:v>
                </c:pt>
              </c:strCache>
            </c:strRef>
          </c:tx>
          <c:spPr>
            <a:solidFill>
              <a:srgbClr val="1F4E79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1F4E79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2E75B6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1F4E79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2E75B6"/>
              </a:solidFill>
              <a:effectLst/>
            </c:spPr>
          </c:dPt>
          <c:cat>
            <c:multiLvlStrRef>
              <c:f>Sheet1!$A$2:$A$5</c:f>
              <c:multiLvlStrCache>
                <c:ptCount val="4"/>
                <c:lvl>
                  <c:pt idx="0">
                    <c:v>Orbit CRM</c:v>
                  </c:pt>
                  <c:pt idx="1">
                    <c:v>People Ops</c:v>
                  </c:pt>
                  <c:pt idx="2">
                    <c:v>Pulse Dashboard</c:v>
                  </c:pt>
                  <c:pt idx="3">
                    <c:v>Nimbus Storage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177</c:v>
                </c:pt>
                <c:pt idx="1">
                  <c:v>382</c:v>
                </c:pt>
                <c:pt idx="2">
                  <c:v>399</c:v>
                </c:pt>
                <c:pt idx="3">
                  <c:v>591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D6E4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194560"/>
            <a:ext cx="1069848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1F4E79"/>
                </a:solidFill>
              </a:rPr>
              <a:t>Pitch Deck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731520" y="3383280"/>
            <a:ext cx="106984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666666"/>
                </a:solidFill>
              </a:rPr>
              <a:t>Northwind Analytics · 2026-09</a:t>
            </a:r>
            <a:endParaRPr lang="en-US" sz="2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F4E79"/>
          </a:solidFill>
          <a:ln/>
        </p:spPr>
        <p:txBody>
          <a:bodyPr wrap="square" lIns="152400" tIns="152400" rIns="152400" bIns="15240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Performance Analysis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640080" y="1188720"/>
            <a:ext cx="10972800" cy="4937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n-US" sz="1600" dirty="0">
                <a:solidFill>
                  <a:srgbClr val="333333"/>
                </a:solidFill>
              </a:rPr>
              <a:t>Revenue concentration in the main product line increased and retention improved</a:t>
            </a:r>
            <a:endParaRPr lang="en-US" sz="1600" dirty="0"/>
          </a:p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n-US" sz="1600" dirty="0">
                <a:solidFill>
                  <a:srgbClr val="333333"/>
                </a:solidFill>
              </a:rPr>
              <a:t>We recommend expanding channel investment and rebalancing resourcing to sustain growth</a:t>
            </a:r>
            <a:endParaRPr lang="en-US" sz="1600" dirty="0"/>
          </a:p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n-US" sz="1600" dirty="0">
                <a:solidFill>
                  <a:srgbClr val="333333"/>
                </a:solidFill>
              </a:rPr>
              <a:t>The business delivered steady growth this quarter, with core KPIs on target.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F4E79"/>
          </a:solidFill>
          <a:ln/>
        </p:spPr>
        <p:txBody>
          <a:bodyPr wrap="square" lIns="152400" tIns="152400" rIns="152400" bIns="15240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Executive Overview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640080" y="1188720"/>
            <a:ext cx="10972800" cy="4937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n-US" sz="1600" dirty="0">
                <a:solidFill>
                  <a:srgbClr val="333333"/>
                </a:solidFill>
              </a:rPr>
              <a:t>The business delivered steady growth this quarter, with core KPIs on target</a:t>
            </a:r>
            <a:endParaRPr lang="en-US" sz="1600" dirty="0"/>
          </a:p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n-US" sz="1600" dirty="0">
                <a:solidFill>
                  <a:srgbClr val="333333"/>
                </a:solidFill>
              </a:rPr>
              <a:t>Cost pressure and regional competition remain the principal risks to monitor</a:t>
            </a:r>
            <a:endParaRPr lang="en-US" sz="1600" dirty="0"/>
          </a:p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n-US" sz="1600" dirty="0">
                <a:solidFill>
                  <a:srgbClr val="333333"/>
                </a:solidFill>
              </a:rPr>
              <a:t>We recommend expanding channel investment and rebalancing resourcing to sustain growth.</a:t>
            </a:r>
            <a:endParaRPr lang="en-US" sz="1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F4E79"/>
          </a:solidFill>
          <a:ln/>
        </p:spPr>
        <p:txBody>
          <a:bodyPr wrap="square" lIns="152400" tIns="152400" rIns="152400" bIns="15240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Key Numbers</a:t>
            </a:r>
            <a:endParaRPr lang="en-US" sz="24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280160"/>
          <a:ext cx="10972800" cy="914400"/>
        </p:xfrm>
        <a:graphic>
          <a:graphicData uri="http://schemas.openxmlformats.org/drawingml/2006/table">
            <a:tbl>
              <a:tblPr/>
              <a:tblGrid>
                <a:gridCol w="4572000"/>
                <a:gridCol w="3200400"/>
                <a:gridCol w="3200400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Item</a:t>
                      </a:r>
                      <a:endParaRPr lang="en-US" sz="13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Revenue (k)</a:t>
                      </a:r>
                      <a:endParaRPr lang="en-US" sz="13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YoY</a:t>
                      </a:r>
                      <a:endParaRPr lang="en-US" sz="13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</a:rPr>
                        <a:t>Orbit CRM</a:t>
                      </a:r>
                      <a:endParaRPr lang="en-US" sz="13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</a:rPr>
                        <a:t>177</a:t>
                      </a:r>
                      <a:endParaRPr lang="en-US" sz="13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</a:rPr>
                        <a:t>-0.074</a:t>
                      </a:r>
                      <a:endParaRPr lang="en-US" sz="13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</a:rPr>
                        <a:t>People Ops</a:t>
                      </a:r>
                      <a:endParaRPr lang="en-US" sz="13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</a:rPr>
                        <a:t>382</a:t>
                      </a:r>
                      <a:endParaRPr lang="en-US" sz="13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</a:rPr>
                        <a:t>-0.097</a:t>
                      </a:r>
                      <a:endParaRPr lang="en-US" sz="13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</a:rPr>
                        <a:t>Pulse Dashboard</a:t>
                      </a:r>
                      <a:endParaRPr lang="en-US" sz="13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</a:rPr>
                        <a:t>399</a:t>
                      </a:r>
                      <a:endParaRPr lang="en-US" sz="13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</a:rPr>
                        <a:t>0.002</a:t>
                      </a:r>
                      <a:endParaRPr lang="en-US" sz="13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</a:rPr>
                        <a:t>Nimbus Storage</a:t>
                      </a:r>
                      <a:endParaRPr lang="en-US" sz="13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</a:rPr>
                        <a:t>591</a:t>
                      </a:r>
                      <a:endParaRPr lang="en-US" sz="13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</a:rPr>
                        <a:t>-0.083</a:t>
                      </a:r>
                      <a:endParaRPr lang="en-US" sz="13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F4E79"/>
          </a:solidFill>
          <a:ln/>
        </p:spPr>
        <p:txBody>
          <a:bodyPr wrap="square" lIns="152400" tIns="152400" rIns="152400" bIns="15240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Revenue Trend</a:t>
            </a:r>
            <a:endParaRPr lang="en-US" sz="2400" dirty="0"/>
          </a:p>
        </p:txBody>
      </p:sp>
      <p:graphicFrame>
        <p:nvGraphicFramePr>
          <p:cNvPr id="3" name="Chart 0" descr=""/>
          <p:cNvGraphicFramePr/>
          <p:nvPr/>
        </p:nvGraphicFramePr>
        <p:xfrm>
          <a:off x="822960" y="1280160"/>
          <a:ext cx="10515600" cy="48463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2026-10-08T13:32:11Z</dcterms:created>
  <dcterms:modified xsi:type="dcterms:W3CDTF">2026-10-08T13:32:11Z</dcterms:modified>
</cp:coreProperties>
</file>